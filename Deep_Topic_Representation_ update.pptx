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autoAdjust="0"/>
    <p:restoredTop sz="94660"/>
  </p:normalViewPr>
  <p:slideViewPr>
    <p:cSldViewPr snapToGrid="0">
      <p:cViewPr varScale="1">
        <p:scale>
          <a:sx n="92" d="100"/>
          <a:sy n="92" d="100"/>
        </p:scale>
        <p:origin x="28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CFBFF-BB10-4F3F-B328-7B9B166E4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3E2BC5-F4B8-47A9-AC44-9479EAA89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B4C490-40AC-4877-A03B-5B7BD40F613D}"/>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33ACD6BC-4426-4570-9393-91F26246D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5AF2A-13ED-4EAF-9439-DA46556ADCAE}"/>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160895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C9E1-C118-486B-97A7-8600544E2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988567-2FCC-4D99-8D57-F3CAD0D1A57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13967-3EE5-417B-8138-0FEB5F818BF0}"/>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6FE0DF3F-2B23-4BCA-926B-B4185D47F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8E033-0911-4901-83CD-D4D1F6A7210C}"/>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369472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C2C2-FF42-4C8D-9277-C0FA2C49D1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E63766-17BE-4B94-BE8A-F7EEA7E97F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7FFA351-A0D3-4D9D-B46D-DF18CB0BCF8C}"/>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7D995CCF-017E-4DA8-917B-A189F82D3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8A46D-4B29-4220-B475-66AA05F9A337}"/>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868262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6D93-9451-429B-9B71-CFD9474534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C605BF-DF12-484C-803E-50178116AC0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BF513A-BAFC-4048-9C88-036C92F73C7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D4A834-A4E5-4F13-9CF9-AD24DAF3A550}"/>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6" name="Footer Placeholder 5">
            <a:extLst>
              <a:ext uri="{FF2B5EF4-FFF2-40B4-BE49-F238E27FC236}">
                <a16:creationId xmlns:a16="http://schemas.microsoft.com/office/drawing/2014/main" id="{FF035A2D-B0D1-4E67-9BB9-2E89AB2B67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E62024-9CA0-468E-83BC-BE803E6BEA07}"/>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108772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BDF9-F790-4AB6-A65B-19AD882BF0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97205E-53B1-4257-AD01-5B085FB93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15998C-85BC-43C6-815E-CA0E9B68856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936A05-B953-4D22-92F6-0213C1F79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8355883-883B-4861-88FA-F28529E768E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ECBC78-57C1-45B5-91DD-FB7E081ECEC1}"/>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8" name="Footer Placeholder 7">
            <a:extLst>
              <a:ext uri="{FF2B5EF4-FFF2-40B4-BE49-F238E27FC236}">
                <a16:creationId xmlns:a16="http://schemas.microsoft.com/office/drawing/2014/main" id="{35FF9010-9B76-4FFF-8E46-D521441A2E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BADCBE-5BB3-4C57-86D1-AB8AE07B08D9}"/>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2275515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D4399-E40A-4193-92BA-FE4BB905FC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36CD10-6FF4-4B5E-95D9-AEF2C056F6A4}"/>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4" name="Footer Placeholder 3">
            <a:extLst>
              <a:ext uri="{FF2B5EF4-FFF2-40B4-BE49-F238E27FC236}">
                <a16:creationId xmlns:a16="http://schemas.microsoft.com/office/drawing/2014/main" id="{95F01C06-FC67-405A-8AC2-9D55B1E4F1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F24950-7512-4275-ABBA-B61CD0156D84}"/>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4181403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30BBCF-B215-4457-8DDB-D67F89F681E9}"/>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3" name="Footer Placeholder 2">
            <a:extLst>
              <a:ext uri="{FF2B5EF4-FFF2-40B4-BE49-F238E27FC236}">
                <a16:creationId xmlns:a16="http://schemas.microsoft.com/office/drawing/2014/main" id="{14C2520A-4011-4B11-98D9-34B23E571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2C989C-B6A4-4911-A85D-4548B792B11D}"/>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991123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5FD6-A517-485F-BBC7-56C86CEAB8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FE7676-8A61-41E4-A109-06A17B68B7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FB9D6-ABF3-4E3B-A5A6-D53F96E755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51DAEE-D9B1-415C-85F1-CD4F99F96F99}"/>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6" name="Footer Placeholder 5">
            <a:extLst>
              <a:ext uri="{FF2B5EF4-FFF2-40B4-BE49-F238E27FC236}">
                <a16:creationId xmlns:a16="http://schemas.microsoft.com/office/drawing/2014/main" id="{5E5317C3-F4AB-4BD5-AA93-9AB248E985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0EFBC9-ECF2-4F92-BA08-418BBD8581D3}"/>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500725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F60F-2F21-4230-AACC-7125D388C8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FC068B-34C6-44EC-9753-74E76B0CF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5DDD3B-0B72-4529-8746-11EA693E88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36AF199-56D8-4D4B-80A4-0E9506A2AA60}"/>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6" name="Footer Placeholder 5">
            <a:extLst>
              <a:ext uri="{FF2B5EF4-FFF2-40B4-BE49-F238E27FC236}">
                <a16:creationId xmlns:a16="http://schemas.microsoft.com/office/drawing/2014/main" id="{A9FFD798-B4C0-4B30-AFC2-FD9C4E7932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3553F-481D-4AE9-A331-574E94196EA4}"/>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2871615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B2275-9D40-4EBD-B0B3-75D1929946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BFCD14-B50E-4186-85BA-4EA6B6831CA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1A331D-5D1A-494D-87B0-F11F338DEBE0}"/>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E8A3ADE7-F159-4155-8C42-050578490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01D062-5E22-4521-9752-849D1CBE48AE}"/>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3934749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904D87-58DE-4F84-A5DC-1D5554E332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D5CD59-C9D9-458E-AE11-D5D0BCF95E3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AF078-0FE6-4D7D-B6AC-DFEA60401087}"/>
              </a:ext>
            </a:extLst>
          </p:cNvPr>
          <p:cNvSpPr>
            <a:spLocks noGrp="1"/>
          </p:cNvSpPr>
          <p:nvPr>
            <p:ph type="dt" sz="half" idx="10"/>
          </p:nvPr>
        </p:nvSpPr>
        <p:spPr/>
        <p:txBody>
          <a:body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613E751A-EA0E-4323-92A1-A598E65BB5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94CA9-C8E6-4A2A-86C0-E2268EC1C23E}"/>
              </a:ext>
            </a:extLst>
          </p:cNvPr>
          <p:cNvSpPr>
            <a:spLocks noGrp="1"/>
          </p:cNvSpPr>
          <p:nvPr>
            <p:ph type="sldNum" sz="quarter" idx="12"/>
          </p:nvPr>
        </p:nvSpPr>
        <p:spPr/>
        <p:txBody>
          <a:bodyPr/>
          <a:lstStyle/>
          <a:p>
            <a:fld id="{B5CC298E-7B91-4826-BBD1-C45D00B7B499}" type="slidenum">
              <a:rPr lang="en-US" smtClean="0"/>
              <a:t>‹#›</a:t>
            </a:fld>
            <a:endParaRPr lang="en-US"/>
          </a:p>
        </p:txBody>
      </p:sp>
    </p:spTree>
    <p:extLst>
      <p:ext uri="{BB962C8B-B14F-4D97-AF65-F5344CB8AC3E}">
        <p14:creationId xmlns:p14="http://schemas.microsoft.com/office/powerpoint/2010/main" val="36679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5349E8-0875-4F70-B314-7C000FC38C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4FC150-87B5-47EA-95CD-387285469A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FA8356-D24B-40B8-98C4-FA725749EE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B7DBE-5C11-4AE0-877F-DD2FB0669DDA}" type="datetimeFigureOut">
              <a:rPr lang="en-US" smtClean="0"/>
              <a:t>10/29/2025</a:t>
            </a:fld>
            <a:endParaRPr lang="en-US"/>
          </a:p>
        </p:txBody>
      </p:sp>
      <p:sp>
        <p:nvSpPr>
          <p:cNvPr id="5" name="Footer Placeholder 4">
            <a:extLst>
              <a:ext uri="{FF2B5EF4-FFF2-40B4-BE49-F238E27FC236}">
                <a16:creationId xmlns:a16="http://schemas.microsoft.com/office/drawing/2014/main" id="{A3598DAD-7388-42A8-A6A8-D02633F830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9947CF-6428-4CFD-B657-26CD68B4AF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CC298E-7B91-4826-BBD1-C45D00B7B499}" type="slidenum">
              <a:rPr lang="en-US" smtClean="0"/>
              <a:t>‹#›</a:t>
            </a:fld>
            <a:endParaRPr lang="en-US"/>
          </a:p>
        </p:txBody>
      </p:sp>
    </p:spTree>
    <p:extLst>
      <p:ext uri="{BB962C8B-B14F-4D97-AF65-F5344CB8AC3E}">
        <p14:creationId xmlns:p14="http://schemas.microsoft.com/office/powerpoint/2010/main" val="840530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18FA7E-C104-2889-0BDB-734A53E63739}"/>
              </a:ext>
            </a:extLst>
          </p:cNvPr>
          <p:cNvSpPr txBox="1"/>
          <p:nvPr/>
        </p:nvSpPr>
        <p:spPr>
          <a:xfrm>
            <a:off x="1259879" y="3507761"/>
            <a:ext cx="6925954" cy="2739211"/>
          </a:xfrm>
          <a:prstGeom prst="rect">
            <a:avLst/>
          </a:prstGeom>
          <a:noFill/>
        </p:spPr>
        <p:txBody>
          <a:bodyPr wrap="square">
            <a:spAutoFit/>
          </a:bodyPr>
          <a:lstStyle/>
          <a:p>
            <a:pPr rtl="0">
              <a:buNone/>
            </a:pPr>
            <a:r>
              <a:rPr lang="en-US" sz="2800" b="1" u="sng" dirty="0">
                <a:solidFill>
                  <a:srgbClr val="0070C0"/>
                </a:solidFill>
                <a:effectLst>
                  <a:outerShdw blurRad="38100" dist="38100" dir="2700000" algn="tl">
                    <a:srgbClr val="000000">
                      <a:alpha val="43137"/>
                    </a:srgbClr>
                  </a:outerShdw>
                </a:effectLst>
              </a:rPr>
              <a:t>Group two Members.</a:t>
            </a:r>
          </a:p>
          <a:p>
            <a:pPr marL="342900" indent="-342900">
              <a:buFont typeface="+mj-lt"/>
              <a:buAutoNum type="arabicPeriod"/>
            </a:pPr>
            <a:r>
              <a:rPr lang="en-US" sz="2400" b="1" dirty="0"/>
              <a:t>Kato Joseph Bwanika         Reg:2023-B291-11709</a:t>
            </a:r>
          </a:p>
          <a:p>
            <a:pPr marL="342900" indent="-342900">
              <a:buFont typeface="+mj-lt"/>
              <a:buAutoNum type="arabicPeriod"/>
            </a:pPr>
            <a:r>
              <a:rPr lang="en-US" sz="2400" b="1" dirty="0"/>
              <a:t>Mambo Emmanuel             Reg:2022-B291-11357</a:t>
            </a:r>
          </a:p>
          <a:p>
            <a:pPr marL="342900" indent="-342900">
              <a:buFont typeface="+mj-lt"/>
              <a:buAutoNum type="arabicPeriod"/>
            </a:pPr>
            <a:r>
              <a:rPr lang="en-US" sz="2400" b="1"/>
              <a:t>Ssenkaayi</a:t>
            </a:r>
            <a:r>
              <a:rPr lang="en-US" sz="2400" b="1" dirty="0"/>
              <a:t> Vianney John M  Reg:2023-B291-11360</a:t>
            </a:r>
          </a:p>
          <a:p>
            <a:pPr marL="342900" indent="-342900">
              <a:buFont typeface="+mj-lt"/>
              <a:buAutoNum type="arabicPeriod"/>
            </a:pPr>
            <a:r>
              <a:rPr lang="en-US" sz="2400" b="1" dirty="0"/>
              <a:t>Kutosi Mark                           Reg:2023-B291-11708 </a:t>
            </a:r>
          </a:p>
          <a:p>
            <a:pPr marL="342900" indent="-342900">
              <a:buFont typeface="+mj-lt"/>
              <a:buAutoNum type="arabicPeriod"/>
            </a:pPr>
            <a:r>
              <a:rPr lang="en-US" sz="2400" b="1" dirty="0" err="1"/>
              <a:t>Lubangakene</a:t>
            </a:r>
            <a:r>
              <a:rPr lang="en-US" sz="2400" b="1" dirty="0"/>
              <a:t> Jonathan	 Reg:2023-B291-13195</a:t>
            </a:r>
          </a:p>
          <a:p>
            <a:pPr marL="342900" indent="-342900">
              <a:buFont typeface="+mj-lt"/>
              <a:buAutoNum type="arabicPeriod"/>
            </a:pPr>
            <a:r>
              <a:rPr lang="en-US" sz="2400" b="1" dirty="0" err="1"/>
              <a:t>Kayooro</a:t>
            </a:r>
            <a:r>
              <a:rPr lang="en-US" sz="2400" b="1" dirty="0"/>
              <a:t> P. Paul.   		 Reg: 2023-B291-13203</a:t>
            </a:r>
          </a:p>
        </p:txBody>
      </p:sp>
      <p:pic>
        <p:nvPicPr>
          <p:cNvPr id="1028" name="Picture 4" descr="Uganda Martyrs University | E4Impact">
            <a:extLst>
              <a:ext uri="{FF2B5EF4-FFF2-40B4-BE49-F238E27FC236}">
                <a16:creationId xmlns:a16="http://schemas.microsoft.com/office/drawing/2014/main" id="{07FFF60C-FCD7-8EE7-0774-745C37E3B1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970" t="15422" r="15737" b="14760"/>
          <a:stretch>
            <a:fillRect/>
          </a:stretch>
        </p:blipFill>
        <p:spPr bwMode="auto">
          <a:xfrm>
            <a:off x="9020738" y="2572764"/>
            <a:ext cx="1748789" cy="186999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44A6E897-F1FA-41A0-A302-87EEFA5EB30B}"/>
              </a:ext>
            </a:extLst>
          </p:cNvPr>
          <p:cNvSpPr txBox="1">
            <a:spLocks/>
          </p:cNvSpPr>
          <p:nvPr/>
        </p:nvSpPr>
        <p:spPr>
          <a:xfrm>
            <a:off x="0" y="611028"/>
            <a:ext cx="11409528"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dirty="0">
                <a:solidFill>
                  <a:srgbClr val="0070C0"/>
                </a:solidFill>
                <a:effectLst>
                  <a:outerShdw blurRad="38100" dist="38100" dir="2700000" algn="tl">
                    <a:srgbClr val="000000">
                      <a:alpha val="43137"/>
                    </a:srgbClr>
                  </a:outerShdw>
                </a:effectLst>
              </a:rPr>
              <a:t> Deep Topic Representation (Autoencoder / Transformer Embeddings)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E85A-502E-4941-A572-EDD6441145A5}"/>
              </a:ext>
            </a:extLst>
          </p:cNvPr>
          <p:cNvSpPr>
            <a:spLocks noGrp="1"/>
          </p:cNvSpPr>
          <p:nvPr>
            <p:ph type="title"/>
          </p:nvPr>
        </p:nvSpPr>
        <p:spPr>
          <a:xfrm>
            <a:off x="149516" y="301768"/>
            <a:ext cx="4629150" cy="1020330"/>
          </a:xfrm>
        </p:spPr>
        <p:txBody>
          <a:bodyPr>
            <a:normAutofit/>
          </a:bodyPr>
          <a:lstStyle/>
          <a:p>
            <a:r>
              <a:rPr lang="en-US" sz="5400" b="1" dirty="0">
                <a:solidFill>
                  <a:srgbClr val="0070C0"/>
                </a:solidFill>
                <a:effectLst>
                  <a:outerShdw blurRad="38100" dist="38100" dir="2700000" algn="tl">
                    <a:srgbClr val="000000">
                      <a:alpha val="43137"/>
                    </a:srgbClr>
                  </a:outerShdw>
                </a:effectLst>
              </a:rPr>
              <a:t>Dataset loading</a:t>
            </a:r>
          </a:p>
        </p:txBody>
      </p:sp>
      <p:pic>
        <p:nvPicPr>
          <p:cNvPr id="4" name="Picture 3">
            <a:extLst>
              <a:ext uri="{FF2B5EF4-FFF2-40B4-BE49-F238E27FC236}">
                <a16:creationId xmlns:a16="http://schemas.microsoft.com/office/drawing/2014/main" id="{761C0471-606C-48CD-874E-281D9FFFCA26}"/>
              </a:ext>
            </a:extLst>
          </p:cNvPr>
          <p:cNvPicPr>
            <a:picLocks noChangeAspect="1"/>
          </p:cNvPicPr>
          <p:nvPr/>
        </p:nvPicPr>
        <p:blipFill>
          <a:blip r:embed="rId2"/>
          <a:stretch>
            <a:fillRect/>
          </a:stretch>
        </p:blipFill>
        <p:spPr>
          <a:xfrm>
            <a:off x="3966597" y="2342428"/>
            <a:ext cx="7764010" cy="4236980"/>
          </a:xfrm>
          <a:prstGeom prst="rect">
            <a:avLst/>
          </a:prstGeom>
        </p:spPr>
      </p:pic>
      <p:sp>
        <p:nvSpPr>
          <p:cNvPr id="6" name="Rectangle 2">
            <a:extLst>
              <a:ext uri="{FF2B5EF4-FFF2-40B4-BE49-F238E27FC236}">
                <a16:creationId xmlns:a16="http://schemas.microsoft.com/office/drawing/2014/main" id="{76C55FA0-F875-B19E-882E-EF5A6A37E236}"/>
              </a:ext>
            </a:extLst>
          </p:cNvPr>
          <p:cNvSpPr>
            <a:spLocks noChangeArrowheads="1"/>
          </p:cNvSpPr>
          <p:nvPr/>
        </p:nvSpPr>
        <p:spPr bwMode="auto">
          <a:xfrm>
            <a:off x="271005" y="1322098"/>
            <a:ext cx="1124238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Action:</a:t>
            </a:r>
            <a:r>
              <a:rPr kumimoji="0" lang="en-US" altLang="en-US" sz="2800" b="0" i="0" u="none" strike="noStrike" cap="none" normalizeH="0" baseline="0" dirty="0">
                <a:ln>
                  <a:noFill/>
                </a:ln>
                <a:solidFill>
                  <a:schemeClr val="tx1"/>
                </a:solidFill>
                <a:effectLst/>
                <a:latin typeface="Arial" panose="020B0604020202020204" pitchFamily="34" charset="0"/>
              </a:rPr>
              <a:t> The </a:t>
            </a:r>
            <a:r>
              <a:rPr kumimoji="0" lang="en-US" altLang="en-US" sz="2800" b="1" i="0" u="none" strike="noStrike" cap="none" normalizeH="0" baseline="0" dirty="0">
                <a:ln>
                  <a:noFill/>
                </a:ln>
                <a:solidFill>
                  <a:schemeClr val="tx1"/>
                </a:solidFill>
                <a:effectLst/>
                <a:latin typeface="Arial" panose="020B0604020202020204" pitchFamily="34" charset="0"/>
              </a:rPr>
              <a:t>Swahili News dataset</a:t>
            </a:r>
            <a:r>
              <a:rPr kumimoji="0" lang="en-US" altLang="en-US" sz="2800" b="0" i="0" u="none" strike="noStrike" cap="none" normalizeH="0" baseline="0" dirty="0">
                <a:ln>
                  <a:noFill/>
                </a:ln>
                <a:solidFill>
                  <a:schemeClr val="tx1"/>
                </a:solidFill>
                <a:effectLst/>
                <a:latin typeface="Arial" panose="020B0604020202020204" pitchFamily="34" charset="0"/>
              </a:rPr>
              <a:t> was loaded from Hugging Face. This provided the large collection of articles necessary for the project’s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CB1A0192-8403-90B8-C8C2-933D7BFBB122}"/>
              </a:ext>
            </a:extLst>
          </p:cNvPr>
          <p:cNvSpPr>
            <a:spLocks noChangeArrowheads="1"/>
          </p:cNvSpPr>
          <p:nvPr/>
        </p:nvSpPr>
        <p:spPr bwMode="auto">
          <a:xfrm>
            <a:off x="210261" y="2761387"/>
            <a:ext cx="413313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Significance:</a:t>
            </a:r>
            <a:r>
              <a:rPr kumimoji="0" lang="en-US" altLang="en-US" sz="2800" b="0" i="0" u="none" strike="noStrike" cap="none" normalizeH="0" baseline="0" dirty="0">
                <a:ln>
                  <a:noFill/>
                </a:ln>
                <a:solidFill>
                  <a:schemeClr val="tx1"/>
                </a:solidFill>
                <a:effectLst/>
                <a:latin typeface="Arial" panose="020B0604020202020204" pitchFamily="34" charset="0"/>
              </a:rPr>
              <a:t> This dataset serves as the project's foundation, enabling the group to focus on a real-world, ow-resource language (Swahili)</a:t>
            </a:r>
          </a:p>
        </p:txBody>
      </p:sp>
    </p:spTree>
    <p:extLst>
      <p:ext uri="{BB962C8B-B14F-4D97-AF65-F5344CB8AC3E}">
        <p14:creationId xmlns:p14="http://schemas.microsoft.com/office/powerpoint/2010/main" val="701155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910B-6F10-49CD-90B6-3B98E1F1F125}"/>
              </a:ext>
            </a:extLst>
          </p:cNvPr>
          <p:cNvSpPr>
            <a:spLocks noGrp="1"/>
          </p:cNvSpPr>
          <p:nvPr>
            <p:ph type="title"/>
          </p:nvPr>
        </p:nvSpPr>
        <p:spPr>
          <a:xfrm>
            <a:off x="342901" y="278954"/>
            <a:ext cx="6838951" cy="678800"/>
          </a:xfrm>
        </p:spPr>
        <p:txBody>
          <a:bodyPr>
            <a:normAutofit fontScale="90000"/>
          </a:bodyPr>
          <a:lstStyle/>
          <a:p>
            <a:r>
              <a:rPr lang="en-US" b="1" dirty="0">
                <a:solidFill>
                  <a:srgbClr val="0070C0"/>
                </a:solidFill>
                <a:effectLst>
                  <a:outerShdw blurRad="38100" dist="38100" dir="2700000" algn="tl">
                    <a:srgbClr val="000000">
                      <a:alpha val="43137"/>
                    </a:srgbClr>
                  </a:outerShdw>
                </a:effectLst>
              </a:rPr>
              <a:t>Exploratory data analysis(EDA)</a:t>
            </a:r>
          </a:p>
        </p:txBody>
      </p:sp>
      <p:pic>
        <p:nvPicPr>
          <p:cNvPr id="4" name="Picture 3">
            <a:extLst>
              <a:ext uri="{FF2B5EF4-FFF2-40B4-BE49-F238E27FC236}">
                <a16:creationId xmlns:a16="http://schemas.microsoft.com/office/drawing/2014/main" id="{E76AE702-015E-400B-89FB-B04C99661D75}"/>
              </a:ext>
            </a:extLst>
          </p:cNvPr>
          <p:cNvPicPr>
            <a:picLocks noChangeAspect="1"/>
          </p:cNvPicPr>
          <p:nvPr/>
        </p:nvPicPr>
        <p:blipFill>
          <a:blip r:embed="rId2"/>
          <a:stretch>
            <a:fillRect/>
          </a:stretch>
        </p:blipFill>
        <p:spPr>
          <a:xfrm>
            <a:off x="7555952" y="620921"/>
            <a:ext cx="4293147" cy="3468993"/>
          </a:xfrm>
          <a:prstGeom prst="rect">
            <a:avLst/>
          </a:prstGeom>
        </p:spPr>
      </p:pic>
      <p:pic>
        <p:nvPicPr>
          <p:cNvPr id="5" name="Picture 4">
            <a:extLst>
              <a:ext uri="{FF2B5EF4-FFF2-40B4-BE49-F238E27FC236}">
                <a16:creationId xmlns:a16="http://schemas.microsoft.com/office/drawing/2014/main" id="{EF7AAA53-672E-40C3-A038-2D38942B22D3}"/>
              </a:ext>
            </a:extLst>
          </p:cNvPr>
          <p:cNvPicPr>
            <a:picLocks noChangeAspect="1"/>
          </p:cNvPicPr>
          <p:nvPr/>
        </p:nvPicPr>
        <p:blipFill>
          <a:blip r:embed="rId3"/>
          <a:stretch>
            <a:fillRect/>
          </a:stretch>
        </p:blipFill>
        <p:spPr>
          <a:xfrm>
            <a:off x="6019802" y="4198225"/>
            <a:ext cx="6095999" cy="2676400"/>
          </a:xfrm>
          <a:prstGeom prst="rect">
            <a:avLst/>
          </a:prstGeom>
        </p:spPr>
      </p:pic>
      <p:pic>
        <p:nvPicPr>
          <p:cNvPr id="6" name="Picture 5">
            <a:extLst>
              <a:ext uri="{FF2B5EF4-FFF2-40B4-BE49-F238E27FC236}">
                <a16:creationId xmlns:a16="http://schemas.microsoft.com/office/drawing/2014/main" id="{4670C019-CB01-42C5-9EDA-50DA67AFB896}"/>
              </a:ext>
            </a:extLst>
          </p:cNvPr>
          <p:cNvPicPr>
            <a:picLocks noChangeAspect="1"/>
          </p:cNvPicPr>
          <p:nvPr/>
        </p:nvPicPr>
        <p:blipFill>
          <a:blip r:embed="rId4"/>
          <a:stretch>
            <a:fillRect/>
          </a:stretch>
        </p:blipFill>
        <p:spPr>
          <a:xfrm>
            <a:off x="76199" y="4263076"/>
            <a:ext cx="5657850" cy="2594924"/>
          </a:xfrm>
          <a:prstGeom prst="rect">
            <a:avLst/>
          </a:prstGeom>
        </p:spPr>
      </p:pic>
      <p:sp>
        <p:nvSpPr>
          <p:cNvPr id="7" name="Rectangle 1">
            <a:extLst>
              <a:ext uri="{FF2B5EF4-FFF2-40B4-BE49-F238E27FC236}">
                <a16:creationId xmlns:a16="http://schemas.microsoft.com/office/drawing/2014/main" id="{79C6B8B5-B855-644A-B60B-88D0B28FAD75}"/>
              </a:ext>
            </a:extLst>
          </p:cNvPr>
          <p:cNvSpPr>
            <a:spLocks noChangeArrowheads="1"/>
          </p:cNvSpPr>
          <p:nvPr/>
        </p:nvSpPr>
        <p:spPr bwMode="auto">
          <a:xfrm>
            <a:off x="76198" y="1078262"/>
            <a:ext cx="683895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Goal:</a:t>
            </a:r>
            <a:r>
              <a:rPr kumimoji="0" lang="en-US" altLang="en-US" sz="2000" b="0" i="0" u="none" strike="noStrike" cap="none" normalizeH="0" baseline="0" dirty="0">
                <a:ln>
                  <a:noFill/>
                </a:ln>
                <a:solidFill>
                  <a:schemeClr val="tx1"/>
                </a:solidFill>
                <a:effectLst/>
                <a:latin typeface="Arial" panose="020B0604020202020204" pitchFamily="34" charset="0"/>
              </a:rPr>
              <a:t> The primary objective was to </a:t>
            </a:r>
            <a:r>
              <a:rPr kumimoji="0" lang="en-US" altLang="en-US" sz="2000" b="1" i="0" u="none" strike="noStrike" cap="none" normalizeH="0" baseline="0" dirty="0">
                <a:ln>
                  <a:noFill/>
                </a:ln>
                <a:solidFill>
                  <a:schemeClr val="tx1"/>
                </a:solidFill>
                <a:effectLst/>
                <a:latin typeface="Arial" panose="020B0604020202020204" pitchFamily="34" charset="0"/>
              </a:rPr>
              <a:t>understand the data</a:t>
            </a:r>
            <a:r>
              <a:rPr kumimoji="0" lang="en-US" altLang="en-US" sz="2000" b="0" i="0" u="none" strike="noStrike" cap="none" normalizeH="0" baseline="0" dirty="0">
                <a:ln>
                  <a:noFill/>
                </a:ln>
                <a:solidFill>
                  <a:schemeClr val="tx1"/>
                </a:solidFill>
                <a:effectLst/>
                <a:latin typeface="Arial" panose="020B0604020202020204" pitchFamily="34" charset="0"/>
              </a:rPr>
              <a:t> before implementing any models. This step involved analyzing statistics such as the most common words and the typical length of the news articles.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Critical Significance:</a:t>
            </a:r>
            <a:r>
              <a:rPr kumimoji="0" lang="en-US" altLang="en-US" sz="2000" b="0" i="0" u="none" strike="noStrike" cap="none" normalizeH="0" baseline="0" dirty="0">
                <a:ln>
                  <a:noFill/>
                </a:ln>
                <a:solidFill>
                  <a:schemeClr val="tx1"/>
                </a:solidFill>
                <a:effectLst/>
                <a:latin typeface="Arial" panose="020B0604020202020204" pitchFamily="34" charset="0"/>
              </a:rPr>
              <a:t> Knowledge of word frequency is essential for identifying and ignoring common filler words (like "the" or "and"). Knowing the text length helps in correctly setting the input size for the powerful BERT mode</a:t>
            </a:r>
          </a:p>
        </p:txBody>
      </p:sp>
    </p:spTree>
    <p:extLst>
      <p:ext uri="{BB962C8B-B14F-4D97-AF65-F5344CB8AC3E}">
        <p14:creationId xmlns:p14="http://schemas.microsoft.com/office/powerpoint/2010/main" val="59100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B7F2-4B67-4328-A025-57AEACA17238}"/>
              </a:ext>
            </a:extLst>
          </p:cNvPr>
          <p:cNvSpPr>
            <a:spLocks noGrp="1"/>
          </p:cNvSpPr>
          <p:nvPr>
            <p:ph type="title"/>
          </p:nvPr>
        </p:nvSpPr>
        <p:spPr>
          <a:xfrm>
            <a:off x="565245" y="439552"/>
            <a:ext cx="9465860" cy="1114541"/>
          </a:xfrm>
        </p:spPr>
        <p:txBody>
          <a:bodyPr>
            <a:noAutofit/>
          </a:bodyPr>
          <a:lstStyle/>
          <a:p>
            <a:r>
              <a:rPr lang="en-US" sz="4800" b="1" dirty="0">
                <a:solidFill>
                  <a:srgbClr val="0070C0"/>
                </a:solidFill>
                <a:effectLst>
                  <a:outerShdw blurRad="38100" dist="38100" dir="2700000" algn="tl">
                    <a:srgbClr val="000000">
                      <a:alpha val="43137"/>
                    </a:srgbClr>
                  </a:outerShdw>
                </a:effectLst>
              </a:rPr>
              <a:t>Preprocess Text and Create Sentence Embeddings</a:t>
            </a:r>
          </a:p>
        </p:txBody>
      </p:sp>
      <p:pic>
        <p:nvPicPr>
          <p:cNvPr id="4" name="Picture 3">
            <a:extLst>
              <a:ext uri="{FF2B5EF4-FFF2-40B4-BE49-F238E27FC236}">
                <a16:creationId xmlns:a16="http://schemas.microsoft.com/office/drawing/2014/main" id="{3177450A-A6A1-4C00-8196-C424AC77D26E}"/>
              </a:ext>
            </a:extLst>
          </p:cNvPr>
          <p:cNvPicPr>
            <a:picLocks noChangeAspect="1"/>
          </p:cNvPicPr>
          <p:nvPr/>
        </p:nvPicPr>
        <p:blipFill>
          <a:blip r:embed="rId2"/>
          <a:srcRect r="6231"/>
          <a:stretch>
            <a:fillRect/>
          </a:stretch>
        </p:blipFill>
        <p:spPr>
          <a:xfrm>
            <a:off x="4235354" y="1869735"/>
            <a:ext cx="7893266" cy="4148919"/>
          </a:xfrm>
          <a:prstGeom prst="rect">
            <a:avLst/>
          </a:prstGeom>
        </p:spPr>
      </p:pic>
      <p:sp>
        <p:nvSpPr>
          <p:cNvPr id="5" name="Rectangle 1">
            <a:extLst>
              <a:ext uri="{FF2B5EF4-FFF2-40B4-BE49-F238E27FC236}">
                <a16:creationId xmlns:a16="http://schemas.microsoft.com/office/drawing/2014/main" id="{B1FAA123-54BA-CDAB-C66A-B019CDAAD618}"/>
              </a:ext>
            </a:extLst>
          </p:cNvPr>
          <p:cNvSpPr>
            <a:spLocks noChangeArrowheads="1"/>
          </p:cNvSpPr>
          <p:nvPr/>
        </p:nvSpPr>
        <p:spPr bwMode="auto">
          <a:xfrm>
            <a:off x="473121" y="1869735"/>
            <a:ext cx="37622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Action:</a:t>
            </a:r>
            <a:r>
              <a:rPr kumimoji="0" lang="en-US" altLang="en-US" sz="2000" b="0" i="0" u="none" strike="noStrike" cap="none" normalizeH="0" baseline="0" dirty="0">
                <a:ln>
                  <a:noFill/>
                </a:ln>
                <a:solidFill>
                  <a:schemeClr val="tx1"/>
                </a:solidFill>
                <a:effectLst/>
                <a:latin typeface="Arial" panose="020B0604020202020204" pitchFamily="34" charset="0"/>
              </a:rPr>
              <a:t> The raw Swahili text was converted into numerical data that the computer could interpret.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Method:</a:t>
            </a:r>
            <a:r>
              <a:rPr kumimoji="0" lang="en-US" altLang="en-US" sz="2000" b="0" i="0" u="none" strike="noStrike" cap="none" normalizeH="0" baseline="0" dirty="0">
                <a:ln>
                  <a:noFill/>
                </a:ln>
                <a:solidFill>
                  <a:schemeClr val="tx1"/>
                </a:solidFill>
                <a:effectLst/>
                <a:latin typeface="Arial" panose="020B0604020202020204" pitchFamily="34" charset="0"/>
              </a:rPr>
              <a:t> A </a:t>
            </a:r>
            <a:r>
              <a:rPr kumimoji="0" lang="en-US" altLang="en-US" sz="2000" b="1" i="0" u="none" strike="noStrike" cap="none" normalizeH="0" baseline="0" dirty="0">
                <a:ln>
                  <a:noFill/>
                </a:ln>
                <a:solidFill>
                  <a:schemeClr val="tx1"/>
                </a:solidFill>
                <a:effectLst/>
                <a:latin typeface="Arial" panose="020B0604020202020204" pitchFamily="34" charset="0"/>
              </a:rPr>
              <a:t>pre-trained multilingual Sentence-BERT model</a:t>
            </a:r>
            <a:r>
              <a:rPr kumimoji="0" lang="en-US" altLang="en-US" sz="2000" b="0" i="0" u="none" strike="noStrike" cap="none" normalizeH="0" baseline="0" dirty="0">
                <a:ln>
                  <a:noFill/>
                </a:ln>
                <a:solidFill>
                  <a:schemeClr val="tx1"/>
                </a:solidFill>
                <a:effectLst/>
                <a:latin typeface="Arial" panose="020B0604020202020204" pitchFamily="34" charset="0"/>
              </a:rPr>
              <a:t> was utilized.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Output:</a:t>
            </a:r>
            <a:r>
              <a:rPr kumimoji="0" lang="en-US" altLang="en-US" sz="2000" b="0" i="0" u="none" strike="noStrike" cap="none" normalizeH="0" baseline="0" dirty="0">
                <a:ln>
                  <a:noFill/>
                </a:ln>
                <a:solidFill>
                  <a:schemeClr val="tx1"/>
                </a:solidFill>
                <a:effectLst/>
                <a:latin typeface="Arial" panose="020B0604020202020204" pitchFamily="34" charset="0"/>
              </a:rPr>
              <a:t> This model processes each news article and converts it into a </a:t>
            </a:r>
            <a:r>
              <a:rPr kumimoji="0" lang="en-US" altLang="en-US" sz="2000" b="1" i="0" u="none" strike="noStrike" cap="none" normalizeH="0" baseline="0" dirty="0">
                <a:ln>
                  <a:noFill/>
                </a:ln>
                <a:solidFill>
                  <a:schemeClr val="tx1"/>
                </a:solidFill>
                <a:effectLst/>
                <a:latin typeface="Arial" panose="020B0604020202020204" pitchFamily="34" charset="0"/>
              </a:rPr>
              <a:t>768-dimensional vector, known as an embedding</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53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F521-A5CD-4191-8A34-460C1481559A}"/>
              </a:ext>
            </a:extLst>
          </p:cNvPr>
          <p:cNvSpPr>
            <a:spLocks noGrp="1"/>
          </p:cNvSpPr>
          <p:nvPr>
            <p:ph type="title"/>
          </p:nvPr>
        </p:nvSpPr>
        <p:spPr>
          <a:xfrm>
            <a:off x="1407337" y="168426"/>
            <a:ext cx="9377326" cy="790344"/>
          </a:xfrm>
        </p:spPr>
        <p:txBody>
          <a:bodyPr>
            <a:normAutofit fontScale="90000"/>
          </a:bodyPr>
          <a:lstStyle/>
          <a:p>
            <a:r>
              <a:rPr lang="en-US" sz="5400" b="1" dirty="0">
                <a:solidFill>
                  <a:srgbClr val="0070C0"/>
                </a:solidFill>
                <a:effectLst>
                  <a:outerShdw blurRad="38100" dist="38100" dir="2700000" algn="tl">
                    <a:srgbClr val="000000">
                      <a:alpha val="43137"/>
                    </a:srgbClr>
                  </a:outerShdw>
                </a:effectLst>
              </a:rPr>
              <a:t>Modeling: Train a Deep Autoencoder</a:t>
            </a:r>
          </a:p>
        </p:txBody>
      </p:sp>
      <p:pic>
        <p:nvPicPr>
          <p:cNvPr id="4" name="Picture 3">
            <a:extLst>
              <a:ext uri="{FF2B5EF4-FFF2-40B4-BE49-F238E27FC236}">
                <a16:creationId xmlns:a16="http://schemas.microsoft.com/office/drawing/2014/main" id="{1603AF6D-BE05-425B-9F03-9C8E9D44F4C9}"/>
              </a:ext>
            </a:extLst>
          </p:cNvPr>
          <p:cNvPicPr>
            <a:picLocks noChangeAspect="1"/>
          </p:cNvPicPr>
          <p:nvPr/>
        </p:nvPicPr>
        <p:blipFill>
          <a:blip r:embed="rId2"/>
          <a:stretch>
            <a:fillRect/>
          </a:stretch>
        </p:blipFill>
        <p:spPr>
          <a:xfrm>
            <a:off x="5663821" y="1869743"/>
            <a:ext cx="6071618" cy="4287568"/>
          </a:xfrm>
          <a:prstGeom prst="rect">
            <a:avLst/>
          </a:prstGeom>
        </p:spPr>
      </p:pic>
      <p:sp>
        <p:nvSpPr>
          <p:cNvPr id="7" name="Rectangle 1">
            <a:extLst>
              <a:ext uri="{FF2B5EF4-FFF2-40B4-BE49-F238E27FC236}">
                <a16:creationId xmlns:a16="http://schemas.microsoft.com/office/drawing/2014/main" id="{140F74FF-4DF8-00D1-8598-2873015C9E8D}"/>
              </a:ext>
            </a:extLst>
          </p:cNvPr>
          <p:cNvSpPr>
            <a:spLocks noChangeArrowheads="1"/>
          </p:cNvSpPr>
          <p:nvPr/>
        </p:nvSpPr>
        <p:spPr bwMode="auto">
          <a:xfrm rot="10800000" flipV="1">
            <a:off x="95535" y="841820"/>
            <a:ext cx="5568286"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Process: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a:t>
            </a:r>
            <a:r>
              <a:rPr kumimoji="0" lang="en-US" altLang="en-US" sz="2000" b="1" i="0" u="none" strike="noStrike" cap="none" normalizeH="0" baseline="0" dirty="0">
                <a:ln>
                  <a:noFill/>
                </a:ln>
                <a:solidFill>
                  <a:schemeClr val="tx1"/>
                </a:solidFill>
                <a:effectLst/>
                <a:latin typeface="Arial" panose="020B0604020202020204" pitchFamily="34" charset="0"/>
              </a:rPr>
              <a:t>Deep Autoencoder (DAE)</a:t>
            </a:r>
            <a:r>
              <a:rPr kumimoji="0" lang="en-US" altLang="en-US" sz="2000" b="0" i="0" u="none" strike="noStrike" cap="none" normalizeH="0" baseline="0" dirty="0">
                <a:ln>
                  <a:noFill/>
                </a:ln>
                <a:solidFill>
                  <a:schemeClr val="tx1"/>
                </a:solidFill>
                <a:effectLst/>
                <a:latin typeface="Arial" panose="020B0604020202020204" pitchFamily="34" charset="0"/>
              </a:rPr>
              <a:t> was built and trained, comprising an Encoder for compression and a Decoder for reconstruction.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Compression Goal: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process compressed the large 768-dimensional meaning-vectors into a tiny </a:t>
            </a:r>
            <a:r>
              <a:rPr kumimoji="0" lang="en-US" altLang="en-US" sz="2000" b="1" i="0" u="none" strike="noStrike" cap="none" normalizeH="0" baseline="0" dirty="0">
                <a:ln>
                  <a:noFill/>
                </a:ln>
                <a:solidFill>
                  <a:schemeClr val="tx1"/>
                </a:solidFill>
                <a:effectLst/>
                <a:latin typeface="Arial" panose="020B0604020202020204" pitchFamily="34" charset="0"/>
              </a:rPr>
              <a:t>2-dimensional space</a:t>
            </a:r>
            <a:r>
              <a:rPr kumimoji="0" lang="en-US" altLang="en-US" sz="2000" b="0" i="0" u="none" strike="noStrike" cap="none" normalizeH="0" baseline="0" dirty="0">
                <a:ln>
                  <a:noFill/>
                </a:ln>
                <a:solidFill>
                  <a:schemeClr val="tx1"/>
                </a:solidFill>
                <a:effectLst/>
                <a:latin typeface="Arial" panose="020B0604020202020204" pitchFamily="34" charset="0"/>
              </a:rPr>
              <a:t>, forcing the model to retain only the most important feature: the core topic.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Training Metric:</a:t>
            </a:r>
            <a:r>
              <a:rPr kumimoji="0" lang="en-US" altLang="en-US" sz="2000" b="0" i="0" u="none" strike="noStrike" cap="none" normalizeH="0" baseline="0" dirty="0">
                <a:ln>
                  <a:noFill/>
                </a:ln>
                <a:solidFill>
                  <a:schemeClr val="tx1"/>
                </a:solidFill>
                <a:effectLst/>
                <a:latin typeface="Arial" panose="020B0604020202020204" pitchFamily="34" charset="0"/>
              </a:rPr>
              <a:t> The model was trained to minimize </a:t>
            </a:r>
            <a:r>
              <a:rPr kumimoji="0" lang="en-US" altLang="en-US" sz="2000" b="1" i="0" u="none" strike="noStrike" cap="none" normalizeH="0" baseline="0" dirty="0">
                <a:ln>
                  <a:noFill/>
                </a:ln>
                <a:solidFill>
                  <a:schemeClr val="tx1"/>
                </a:solidFill>
                <a:effectLst/>
                <a:latin typeface="Arial" panose="020B0604020202020204" pitchFamily="34" charset="0"/>
              </a:rPr>
              <a:t>Reconstruction Loss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Significance: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 low loss indicates that the compressed 2D space is highly effective, containing sufficient information to represent the article's core meaning using only two numbers.</a:t>
            </a:r>
          </a:p>
        </p:txBody>
      </p:sp>
    </p:spTree>
    <p:extLst>
      <p:ext uri="{BB962C8B-B14F-4D97-AF65-F5344CB8AC3E}">
        <p14:creationId xmlns:p14="http://schemas.microsoft.com/office/powerpoint/2010/main" val="1244410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9993D-39D7-4F5B-BDC7-045704EF8D8D}"/>
              </a:ext>
            </a:extLst>
          </p:cNvPr>
          <p:cNvSpPr>
            <a:spLocks noGrp="1"/>
          </p:cNvSpPr>
          <p:nvPr>
            <p:ph type="title"/>
          </p:nvPr>
        </p:nvSpPr>
        <p:spPr>
          <a:xfrm>
            <a:off x="369765" y="224803"/>
            <a:ext cx="6235578" cy="918051"/>
          </a:xfrm>
        </p:spPr>
        <p:txBody>
          <a:bodyPr>
            <a:normAutofit/>
          </a:bodyPr>
          <a:lstStyle/>
          <a:p>
            <a:r>
              <a:rPr lang="en-US" sz="4800" b="1" dirty="0">
                <a:solidFill>
                  <a:srgbClr val="0070C0"/>
                </a:solidFill>
                <a:effectLst>
                  <a:outerShdw blurRad="38100" dist="38100" dir="2700000" algn="tl">
                    <a:srgbClr val="000000">
                      <a:alpha val="43137"/>
                    </a:srgbClr>
                  </a:outerShdw>
                </a:effectLst>
              </a:rPr>
              <a:t>Visualize Latent Clusters.</a:t>
            </a:r>
          </a:p>
        </p:txBody>
      </p:sp>
      <p:sp>
        <p:nvSpPr>
          <p:cNvPr id="8" name="Rectangle 1">
            <a:extLst>
              <a:ext uri="{FF2B5EF4-FFF2-40B4-BE49-F238E27FC236}">
                <a16:creationId xmlns:a16="http://schemas.microsoft.com/office/drawing/2014/main" id="{E2CEAA49-C82B-D685-435D-FABD0BA9BF02}"/>
              </a:ext>
            </a:extLst>
          </p:cNvPr>
          <p:cNvSpPr>
            <a:spLocks noChangeArrowheads="1"/>
          </p:cNvSpPr>
          <p:nvPr/>
        </p:nvSpPr>
        <p:spPr bwMode="auto">
          <a:xfrm>
            <a:off x="644085" y="1142854"/>
            <a:ext cx="923143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400" dirty="0">
                <a:latin typeface="Arial" panose="020B0604020202020204" pitchFamily="34" charset="0"/>
              </a:rPr>
              <a:t>This plot is the Latent Space of our model. The colored dots show that articles on the same subject (like Sports or Health) naturally cluster together. This visual grouping proves the model learned the true meaning (semantics) of the news articles.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51E4E31-7A48-4AAD-93BC-BCC81B836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7309" y="2873805"/>
            <a:ext cx="5022586" cy="3834206"/>
          </a:xfrm>
          <a:prstGeom prst="rect">
            <a:avLst/>
          </a:prstGeom>
        </p:spPr>
      </p:pic>
    </p:spTree>
    <p:extLst>
      <p:ext uri="{BB962C8B-B14F-4D97-AF65-F5344CB8AC3E}">
        <p14:creationId xmlns:p14="http://schemas.microsoft.com/office/powerpoint/2010/main" val="228692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8F476-DBE0-4731-93A3-EEC93D4D6232}"/>
              </a:ext>
            </a:extLst>
          </p:cNvPr>
          <p:cNvSpPr>
            <a:spLocks noGrp="1"/>
          </p:cNvSpPr>
          <p:nvPr>
            <p:ph type="title"/>
          </p:nvPr>
        </p:nvSpPr>
        <p:spPr>
          <a:xfrm>
            <a:off x="174029" y="194130"/>
            <a:ext cx="10456025" cy="956598"/>
          </a:xfrm>
        </p:spPr>
        <p:txBody>
          <a:bodyPr>
            <a:normAutofit/>
          </a:bodyPr>
          <a:lstStyle/>
          <a:p>
            <a:r>
              <a:rPr lang="fr-FR" b="1" dirty="0">
                <a:solidFill>
                  <a:srgbClr val="0070C0"/>
                </a:solidFill>
                <a:effectLst>
                  <a:outerShdw blurRad="38100" dist="38100" dir="2700000" algn="tl">
                    <a:srgbClr val="000000">
                      <a:alpha val="43137"/>
                    </a:srgbClr>
                  </a:outerShdw>
                </a:effectLst>
              </a:rPr>
              <a:t> Extension: Train a Neural Topic Model (NTM)</a:t>
            </a:r>
            <a:endParaRPr lang="en-US" b="1" dirty="0">
              <a:solidFill>
                <a:srgbClr val="0070C0"/>
              </a:solidFill>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3DC0B9EC-9658-4AEB-9A3F-1F816FA1250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4029" y="2643446"/>
            <a:ext cx="5751249" cy="3747655"/>
          </a:xfrm>
          <a:prstGeom prst="rect">
            <a:avLst/>
          </a:prstGeom>
        </p:spPr>
      </p:pic>
      <p:sp>
        <p:nvSpPr>
          <p:cNvPr id="3" name="Rectangle 2">
            <a:extLst>
              <a:ext uri="{FF2B5EF4-FFF2-40B4-BE49-F238E27FC236}">
                <a16:creationId xmlns:a16="http://schemas.microsoft.com/office/drawing/2014/main" id="{85F2DC4C-DB4F-4FD6-B5DC-30BDAC889C09}"/>
              </a:ext>
            </a:extLst>
          </p:cNvPr>
          <p:cNvSpPr/>
          <p:nvPr/>
        </p:nvSpPr>
        <p:spPr>
          <a:xfrm>
            <a:off x="96982" y="975836"/>
            <a:ext cx="6096000" cy="1477328"/>
          </a:xfrm>
          <a:prstGeom prst="rect">
            <a:avLst/>
          </a:prstGeom>
        </p:spPr>
        <p:txBody>
          <a:bodyPr>
            <a:spAutoFit/>
          </a:bodyPr>
          <a:lstStyle/>
          <a:p>
            <a:r>
              <a:rPr lang="en-US" dirty="0"/>
              <a:t>We compared the two topic models to check our work. If the topics match, our entire project is </a:t>
            </a:r>
            <a:r>
              <a:rPr lang="en-US" dirty="0" err="1"/>
              <a:t>verified.NTM</a:t>
            </a:r>
            <a:r>
              <a:rPr lang="en-US" dirty="0"/>
              <a:t>: Finds topics based on which words appear together (Math/Probability).DAE: Finds topics based on what the article means (Meaning/Semantics).</a:t>
            </a:r>
          </a:p>
        </p:txBody>
      </p:sp>
      <p:graphicFrame>
        <p:nvGraphicFramePr>
          <p:cNvPr id="5" name="Table 5">
            <a:extLst>
              <a:ext uri="{FF2B5EF4-FFF2-40B4-BE49-F238E27FC236}">
                <a16:creationId xmlns:a16="http://schemas.microsoft.com/office/drawing/2014/main" id="{F43DBD19-53DD-4338-9CF9-30C894355EBD}"/>
              </a:ext>
            </a:extLst>
          </p:cNvPr>
          <p:cNvGraphicFramePr>
            <a:graphicFrameLocks noGrp="1"/>
          </p:cNvGraphicFramePr>
          <p:nvPr>
            <p:extLst>
              <p:ext uri="{D42A27DB-BD31-4B8C-83A1-F6EECF244321}">
                <p14:modId xmlns:p14="http://schemas.microsoft.com/office/powerpoint/2010/main" val="1132114265"/>
              </p:ext>
            </p:extLst>
          </p:nvPr>
        </p:nvGraphicFramePr>
        <p:xfrm>
          <a:off x="5925278" y="2643446"/>
          <a:ext cx="6277956" cy="2560320"/>
        </p:xfrm>
        <a:graphic>
          <a:graphicData uri="http://schemas.openxmlformats.org/drawingml/2006/table">
            <a:tbl>
              <a:tblPr firstRow="1" bandRow="1">
                <a:tableStyleId>{5C22544A-7EE6-4342-B048-85BDC9FD1C3A}</a:tableStyleId>
              </a:tblPr>
              <a:tblGrid>
                <a:gridCol w="1569489">
                  <a:extLst>
                    <a:ext uri="{9D8B030D-6E8A-4147-A177-3AD203B41FA5}">
                      <a16:colId xmlns:a16="http://schemas.microsoft.com/office/drawing/2014/main" val="1609364718"/>
                    </a:ext>
                  </a:extLst>
                </a:gridCol>
                <a:gridCol w="1569489">
                  <a:extLst>
                    <a:ext uri="{9D8B030D-6E8A-4147-A177-3AD203B41FA5}">
                      <a16:colId xmlns:a16="http://schemas.microsoft.com/office/drawing/2014/main" val="3138817716"/>
                    </a:ext>
                  </a:extLst>
                </a:gridCol>
                <a:gridCol w="1290243">
                  <a:extLst>
                    <a:ext uri="{9D8B030D-6E8A-4147-A177-3AD203B41FA5}">
                      <a16:colId xmlns:a16="http://schemas.microsoft.com/office/drawing/2014/main" val="584737725"/>
                    </a:ext>
                  </a:extLst>
                </a:gridCol>
                <a:gridCol w="1848735">
                  <a:extLst>
                    <a:ext uri="{9D8B030D-6E8A-4147-A177-3AD203B41FA5}">
                      <a16:colId xmlns:a16="http://schemas.microsoft.com/office/drawing/2014/main" val="1691064926"/>
                    </a:ext>
                  </a:extLst>
                </a:gridCol>
              </a:tblGrid>
              <a:tr h="370840">
                <a:tc>
                  <a:txBody>
                    <a:bodyPr/>
                    <a:lstStyle/>
                    <a:p>
                      <a:r>
                        <a:rPr lang="en-US" dirty="0"/>
                        <a:t>DAE found (Meaning)</a:t>
                      </a:r>
                    </a:p>
                  </a:txBody>
                  <a:tcPr/>
                </a:tc>
                <a:tc>
                  <a:txBody>
                    <a:bodyPr/>
                    <a:lstStyle/>
                    <a:p>
                      <a:r>
                        <a:rPr lang="en-US" dirty="0"/>
                        <a:t>NTM topic(by words) </a:t>
                      </a:r>
                    </a:p>
                  </a:txBody>
                  <a:tcPr/>
                </a:tc>
                <a:tc>
                  <a:txBody>
                    <a:bodyPr/>
                    <a:lstStyle/>
                    <a:p>
                      <a:r>
                        <a:rPr lang="en-US" dirty="0"/>
                        <a:t>Match</a:t>
                      </a:r>
                    </a:p>
                  </a:txBody>
                  <a:tcPr/>
                </a:tc>
                <a:tc>
                  <a:txBody>
                    <a:bodyPr/>
                    <a:lstStyle/>
                    <a:p>
                      <a:endParaRPr lang="en-US" dirty="0"/>
                    </a:p>
                  </a:txBody>
                  <a:tcPr/>
                </a:tc>
                <a:extLst>
                  <a:ext uri="{0D108BD9-81ED-4DB2-BD59-A6C34878D82A}">
                    <a16:rowId xmlns:a16="http://schemas.microsoft.com/office/drawing/2014/main" val="2138660771"/>
                  </a:ext>
                </a:extLst>
              </a:tr>
              <a:tr h="370840">
                <a:tc>
                  <a:txBody>
                    <a:bodyPr/>
                    <a:lstStyle/>
                    <a:p>
                      <a:r>
                        <a:rPr lang="en-US" dirty="0"/>
                        <a:t>Sports (football)</a:t>
                      </a:r>
                    </a:p>
                  </a:txBody>
                  <a:tcPr/>
                </a:tc>
                <a:tc>
                  <a:txBody>
                    <a:bodyPr/>
                    <a:lstStyle/>
                    <a:p>
                      <a:r>
                        <a:rPr lang="en-US" dirty="0" err="1"/>
                        <a:t>ligi,michezo</a:t>
                      </a:r>
                      <a:endParaRPr lang="en-US" dirty="0"/>
                    </a:p>
                  </a:txBody>
                  <a:tcPr/>
                </a:tc>
                <a:tc>
                  <a:txBody>
                    <a:bodyPr/>
                    <a:lstStyle/>
                    <a:p>
                      <a:r>
                        <a:rPr lang="en-US" dirty="0"/>
                        <a:t>Yes</a:t>
                      </a:r>
                    </a:p>
                  </a:txBody>
                  <a:tcPr/>
                </a:tc>
                <a:tc>
                  <a:txBody>
                    <a:bodyPr/>
                    <a:lstStyle/>
                    <a:p>
                      <a:endParaRPr lang="en-US"/>
                    </a:p>
                  </a:txBody>
                  <a:tcPr/>
                </a:tc>
                <a:extLst>
                  <a:ext uri="{0D108BD9-81ED-4DB2-BD59-A6C34878D82A}">
                    <a16:rowId xmlns:a16="http://schemas.microsoft.com/office/drawing/2014/main" val="2466245899"/>
                  </a:ext>
                </a:extLst>
              </a:tr>
              <a:tr h="370840">
                <a:tc>
                  <a:txBody>
                    <a:bodyPr/>
                    <a:lstStyle/>
                    <a:p>
                      <a:r>
                        <a:rPr lang="en-US" dirty="0"/>
                        <a:t>Entertainment/arts</a:t>
                      </a:r>
                    </a:p>
                  </a:txBody>
                  <a:tcPr/>
                </a:tc>
                <a:tc>
                  <a:txBody>
                    <a:bodyPr/>
                    <a:lstStyle/>
                    <a:p>
                      <a:r>
                        <a:rPr lang="en-US" dirty="0" err="1"/>
                        <a:t>Msani,muziki</a:t>
                      </a:r>
                      <a:endParaRPr lang="en-US" dirty="0"/>
                    </a:p>
                  </a:txBody>
                  <a:tcPr/>
                </a:tc>
                <a:tc>
                  <a:txBody>
                    <a:bodyPr/>
                    <a:lstStyle/>
                    <a:p>
                      <a:r>
                        <a:rPr lang="en-US" dirty="0"/>
                        <a:t>Yes</a:t>
                      </a:r>
                    </a:p>
                  </a:txBody>
                  <a:tcPr/>
                </a:tc>
                <a:tc>
                  <a:txBody>
                    <a:bodyPr/>
                    <a:lstStyle/>
                    <a:p>
                      <a:endParaRPr lang="en-US"/>
                    </a:p>
                  </a:txBody>
                  <a:tcPr/>
                </a:tc>
                <a:extLst>
                  <a:ext uri="{0D108BD9-81ED-4DB2-BD59-A6C34878D82A}">
                    <a16:rowId xmlns:a16="http://schemas.microsoft.com/office/drawing/2014/main" val="2744072308"/>
                  </a:ext>
                </a:extLst>
              </a:tr>
              <a:tr h="370840">
                <a:tc>
                  <a:txBody>
                    <a:bodyPr/>
                    <a:lstStyle/>
                    <a:p>
                      <a:r>
                        <a:rPr lang="en-US" dirty="0"/>
                        <a:t>Government(policy)</a:t>
                      </a:r>
                    </a:p>
                  </a:txBody>
                  <a:tcPr/>
                </a:tc>
                <a:tc>
                  <a:txBody>
                    <a:bodyPr/>
                    <a:lstStyle/>
                    <a:p>
                      <a:r>
                        <a:rPr lang="en-US" dirty="0" err="1"/>
                        <a:t>Serikali,huduma,mkaa</a:t>
                      </a:r>
                      <a:endParaRPr lang="en-US" dirty="0"/>
                    </a:p>
                  </a:txBody>
                  <a:tcPr/>
                </a:tc>
                <a:tc>
                  <a:txBody>
                    <a:bodyPr/>
                    <a:lstStyle/>
                    <a:p>
                      <a:r>
                        <a:rPr lang="en-US" dirty="0"/>
                        <a:t>Yes </a:t>
                      </a:r>
                    </a:p>
                  </a:txBody>
                  <a:tcPr/>
                </a:tc>
                <a:tc>
                  <a:txBody>
                    <a:bodyPr/>
                    <a:lstStyle/>
                    <a:p>
                      <a:endParaRPr lang="en-US" dirty="0"/>
                    </a:p>
                  </a:txBody>
                  <a:tcPr/>
                </a:tc>
                <a:extLst>
                  <a:ext uri="{0D108BD9-81ED-4DB2-BD59-A6C34878D82A}">
                    <a16:rowId xmlns:a16="http://schemas.microsoft.com/office/drawing/2014/main" val="2664903823"/>
                  </a:ext>
                </a:extLst>
              </a:tr>
            </a:tbl>
          </a:graphicData>
        </a:graphic>
      </p:graphicFrame>
    </p:spTree>
    <p:extLst>
      <p:ext uri="{BB962C8B-B14F-4D97-AF65-F5344CB8AC3E}">
        <p14:creationId xmlns:p14="http://schemas.microsoft.com/office/powerpoint/2010/main" val="381839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0B6DC-5CDE-4672-9ABE-266BF4AB4F33}"/>
              </a:ext>
            </a:extLst>
          </p:cNvPr>
          <p:cNvSpPr>
            <a:spLocks noGrp="1"/>
          </p:cNvSpPr>
          <p:nvPr>
            <p:ph type="title"/>
          </p:nvPr>
        </p:nvSpPr>
        <p:spPr>
          <a:xfrm>
            <a:off x="211170" y="397352"/>
            <a:ext cx="10515600" cy="834477"/>
          </a:xfrm>
        </p:spPr>
        <p:txBody>
          <a:bodyPr/>
          <a:lstStyle/>
          <a:p>
            <a:r>
              <a:rPr lang="en-US" b="1" dirty="0">
                <a:solidFill>
                  <a:srgbClr val="0070C0"/>
                </a:solidFill>
                <a:effectLst>
                  <a:outerShdw blurRad="38100" dist="38100" dir="2700000" algn="tl">
                    <a:srgbClr val="000000">
                      <a:alpha val="43137"/>
                    </a:srgbClr>
                  </a:outerShdw>
                </a:effectLst>
              </a:rPr>
              <a:t> Assess Language-Invariant Semantic Clusters</a:t>
            </a:r>
          </a:p>
        </p:txBody>
      </p:sp>
      <p:pic>
        <p:nvPicPr>
          <p:cNvPr id="4" name="Picture 3">
            <a:extLst>
              <a:ext uri="{FF2B5EF4-FFF2-40B4-BE49-F238E27FC236}">
                <a16:creationId xmlns:a16="http://schemas.microsoft.com/office/drawing/2014/main" id="{7E62E600-37DB-4694-BA7B-C1FE54246408}"/>
              </a:ext>
            </a:extLst>
          </p:cNvPr>
          <p:cNvPicPr>
            <a:picLocks noChangeAspect="1"/>
          </p:cNvPicPr>
          <p:nvPr/>
        </p:nvPicPr>
        <p:blipFill>
          <a:blip r:embed="rId2"/>
          <a:stretch>
            <a:fillRect/>
          </a:stretch>
        </p:blipFill>
        <p:spPr>
          <a:xfrm>
            <a:off x="984500" y="2069185"/>
            <a:ext cx="8193206" cy="3302898"/>
          </a:xfrm>
          <a:prstGeom prst="rect">
            <a:avLst/>
          </a:prstGeom>
        </p:spPr>
      </p:pic>
      <p:sp>
        <p:nvSpPr>
          <p:cNvPr id="7" name="Rectangle 1">
            <a:extLst>
              <a:ext uri="{FF2B5EF4-FFF2-40B4-BE49-F238E27FC236}">
                <a16:creationId xmlns:a16="http://schemas.microsoft.com/office/drawing/2014/main" id="{E9E61C38-3B5A-6CCE-D6CB-B80C4FF3A94D}"/>
              </a:ext>
            </a:extLst>
          </p:cNvPr>
          <p:cNvSpPr>
            <a:spLocks noChangeArrowheads="1"/>
          </p:cNvSpPr>
          <p:nvPr/>
        </p:nvSpPr>
        <p:spPr bwMode="auto">
          <a:xfrm rot="10800000" flipV="1">
            <a:off x="471345" y="1231829"/>
            <a:ext cx="117952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Arial" panose="020B0604020202020204" pitchFamily="34" charset="0"/>
              </a:rPr>
              <a:t>We applied another dataset called English AG news to asses language invariant semantic cluster</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9EAD57E7-44A7-EA88-8C17-4D06D0BEB726}"/>
              </a:ext>
            </a:extLst>
          </p:cNvPr>
          <p:cNvSpPr txBox="1"/>
          <p:nvPr/>
        </p:nvSpPr>
        <p:spPr>
          <a:xfrm>
            <a:off x="211170" y="6078665"/>
            <a:ext cx="10652448" cy="646331"/>
          </a:xfrm>
          <a:prstGeom prst="rect">
            <a:avLst/>
          </a:prstGeom>
          <a:noFill/>
        </p:spPr>
        <p:txBody>
          <a:bodyPr wrap="square">
            <a:spAutoFit/>
          </a:bodyPr>
          <a:lstStyle/>
          <a:p>
            <a:r>
              <a:rPr kumimoji="0" lang="en-US" altLang="en-US" sz="1800" b="0" i="0" u="none" strike="noStrike" cap="none" normalizeH="0" baseline="0" dirty="0">
                <a:ln>
                  <a:noFill/>
                </a:ln>
                <a:solidFill>
                  <a:schemeClr val="tx1"/>
                </a:solidFill>
                <a:effectLst/>
                <a:latin typeface="Arial" panose="020B0604020202020204" pitchFamily="34" charset="0"/>
              </a:rPr>
              <a:t>This confirmed that the model's understanding is based on semantic meaning and is </a:t>
            </a:r>
            <a:r>
              <a:rPr kumimoji="0" lang="en-US" altLang="en-US" sz="1800" b="1" i="0" u="none" strike="noStrike" cap="none" normalizeH="0" baseline="0" dirty="0">
                <a:ln>
                  <a:noFill/>
                </a:ln>
                <a:solidFill>
                  <a:schemeClr val="tx1"/>
                </a:solidFill>
                <a:effectLst/>
                <a:latin typeface="Arial" panose="020B0604020202020204" pitchFamily="34" charset="0"/>
              </a:rPr>
              <a:t>aligned perfectly across both Swahili and English datasets.</a:t>
            </a:r>
            <a:endParaRPr lang="en-US" dirty="0"/>
          </a:p>
        </p:txBody>
      </p:sp>
    </p:spTree>
    <p:extLst>
      <p:ext uri="{BB962C8B-B14F-4D97-AF65-F5344CB8AC3E}">
        <p14:creationId xmlns:p14="http://schemas.microsoft.com/office/powerpoint/2010/main" val="206578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26F1252-0F2D-F642-CA77-0860B7EDF6E8}"/>
              </a:ext>
            </a:extLst>
          </p:cNvPr>
          <p:cNvSpPr>
            <a:spLocks noChangeArrowheads="1"/>
          </p:cNvSpPr>
          <p:nvPr/>
        </p:nvSpPr>
        <p:spPr bwMode="auto">
          <a:xfrm>
            <a:off x="685800" y="1373989"/>
            <a:ext cx="1061454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successfully achieved </a:t>
            </a:r>
            <a:r>
              <a:rPr kumimoji="0" lang="en-US" altLang="en-US" sz="2400" b="1" i="0" u="none" strike="noStrike" cap="none" normalizeH="0" baseline="0" dirty="0">
                <a:ln>
                  <a:noFill/>
                </a:ln>
                <a:solidFill>
                  <a:schemeClr val="tx1"/>
                </a:solidFill>
                <a:effectLst/>
                <a:latin typeface="Arial" panose="020B0604020202020204" pitchFamily="34" charset="0"/>
              </a:rPr>
              <a:t>deep topic representation</a:t>
            </a:r>
            <a:r>
              <a:rPr kumimoji="0" lang="en-US" altLang="en-US" sz="2400" b="0" i="0" u="none" strike="noStrike" cap="none" normalizeH="0" baseline="0" dirty="0">
                <a:ln>
                  <a:noFill/>
                </a:ln>
                <a:solidFill>
                  <a:schemeClr val="tx1"/>
                </a:solidFill>
                <a:effectLst/>
                <a:latin typeface="Arial" panose="020B0604020202020204" pitchFamily="34" charset="0"/>
              </a:rPr>
              <a:t> by applying a Deep Autoencoder to a real-world, low-resource language dataset (Swahili News).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By converting high-dimensional Sentence-BERT embeddings (768D) into a highly compressed 2D latent space, the model demonstrated an effective mechanism for extracting and retaining the core topic.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Visualizations confirmed that the model formed clear, distinct topic clusters.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Critically, the system proved to be </a:t>
            </a:r>
            <a:r>
              <a:rPr kumimoji="0" lang="en-US" altLang="en-US" sz="2400" b="1" i="0" u="none" strike="noStrike" cap="none" normalizeH="0" baseline="0" dirty="0">
                <a:ln>
                  <a:noFill/>
                </a:ln>
                <a:solidFill>
                  <a:schemeClr val="tx1"/>
                </a:solidFill>
                <a:effectLst/>
                <a:latin typeface="Arial" panose="020B0604020202020204" pitchFamily="34" charset="0"/>
              </a:rPr>
              <a:t>language-invariant</a:t>
            </a:r>
            <a:r>
              <a:rPr kumimoji="0" lang="en-US" altLang="en-US" sz="2400" b="0" i="0" u="none" strike="noStrike" cap="none" normalizeH="0" baseline="0" dirty="0">
                <a:ln>
                  <a:noFill/>
                </a:ln>
                <a:solidFill>
                  <a:schemeClr val="tx1"/>
                </a:solidFill>
                <a:effectLst/>
                <a:latin typeface="Arial" panose="020B0604020202020204" pitchFamily="34" charset="0"/>
              </a:rPr>
              <a:t>, clustering articles by meaning regardless of whether they were in Swahili or English, validating the use of deep autoencoders for cross-lingual semantic clustering</a:t>
            </a:r>
          </a:p>
        </p:txBody>
      </p:sp>
      <p:sp>
        <p:nvSpPr>
          <p:cNvPr id="7" name="TextBox 6">
            <a:extLst>
              <a:ext uri="{FF2B5EF4-FFF2-40B4-BE49-F238E27FC236}">
                <a16:creationId xmlns:a16="http://schemas.microsoft.com/office/drawing/2014/main" id="{110BF964-F315-46F1-579F-B4F01C32F2F2}"/>
              </a:ext>
            </a:extLst>
          </p:cNvPr>
          <p:cNvSpPr txBox="1"/>
          <p:nvPr/>
        </p:nvSpPr>
        <p:spPr>
          <a:xfrm>
            <a:off x="3224284" y="666103"/>
            <a:ext cx="3312994"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0070C0"/>
                </a:solidFill>
                <a:effectLst>
                  <a:outerShdw blurRad="38100" dist="38100" dir="2700000" algn="tl">
                    <a:srgbClr val="000000">
                      <a:alpha val="43137"/>
                    </a:srgbClr>
                  </a:outerShdw>
                </a:effectLst>
                <a:latin typeface="Arial" panose="020B0604020202020204" pitchFamily="34" charset="0"/>
              </a:rPr>
              <a:t>Conclusion</a:t>
            </a:r>
          </a:p>
        </p:txBody>
      </p:sp>
    </p:spTree>
    <p:extLst>
      <p:ext uri="{BB962C8B-B14F-4D97-AF65-F5344CB8AC3E}">
        <p14:creationId xmlns:p14="http://schemas.microsoft.com/office/powerpoint/2010/main" val="4190486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355</TotalTime>
  <Words>619</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Dataset loading</vt:lpstr>
      <vt:lpstr>Exploratory data analysis(EDA)</vt:lpstr>
      <vt:lpstr>Preprocess Text and Create Sentence Embeddings</vt:lpstr>
      <vt:lpstr>Modeling: Train a Deep Autoencoder</vt:lpstr>
      <vt:lpstr>Visualize Latent Clusters.</vt:lpstr>
      <vt:lpstr> Extension: Train a Neural Topic Model (NTM)</vt:lpstr>
      <vt:lpstr> Assess Language-Invariant Semantic Clusters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Malik</dc:creator>
  <cp:lastModifiedBy>Malik</cp:lastModifiedBy>
  <cp:revision>22</cp:revision>
  <dcterms:created xsi:type="dcterms:W3CDTF">2025-10-28T21:15:12Z</dcterms:created>
  <dcterms:modified xsi:type="dcterms:W3CDTF">2025-10-29T10:12:40Z</dcterms:modified>
</cp:coreProperties>
</file>